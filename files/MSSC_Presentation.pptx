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2E5EAA"/>
              </a:solidFill>
              <a:effectLst/>
            </c:spPr>
          </c:dPt>
          <c:dPt>
            <c:idx val="2"/>
            <c:bubble3D val="0"/>
            <c:spPr>
              <a:solidFill>
                <a:srgbClr val="16A34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Graph Build
(63%)</c:v>
                </c:pt>
                <c:pt idx="1">
                  <c:v>Dinkelbach
(36%)</c:v>
                </c:pt>
                <c:pt idx="2">
                  <c:v>LP Solve
(1%)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63</c:v>
                </c:pt>
                <c:pt idx="1">
                  <c:v>36</c:v>
                </c:pt>
                <c:pt idx="2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E5EAA">
              <a:alpha val="25000"/>
            </a:srgbClr>
          </a:solidFill>
          <a:ln w="12700">
            <a:solidFill>
              <a:srgbClr val="2E5EAA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548640"/>
            <a:ext cx="2743200" cy="2743200"/>
          </a:xfrm>
          <a:prstGeom prst="ellipse">
            <a:avLst/>
          </a:prstGeom>
          <a:solidFill>
            <a:srgbClr val="D6E4F7">
              <a:alpha val="12000"/>
            </a:srgbClr>
          </a:solidFill>
          <a:ln w="12700">
            <a:solidFill>
              <a:srgbClr val="D6E4F7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CS722 — Optimization Algorithms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Branch-and-Bound Solver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Minimum Sum-of-Squares Clustering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8046720" cy="27432"/>
          </a:xfrm>
          <a:prstGeom prst="rect">
            <a:avLst/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7860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Aloise, Hansen, Liberti — EJOR 2012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 </a:t>
            </a:r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Gurobi 13.0.1  </a:t>
            </a:r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Ubuntu 24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Phases  •  5 Bugs Fixed  •  4 Datasets Validated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Minimum Sum-of-Squares Clustering (MSSC)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86384"/>
            <a:ext cx="8503920" cy="2286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87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Definition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 n points in ℝˢ, integer k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Find:   k clusters minimizing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Σᵢ Σⱼ xᵢⱼ · ‖pᵢ − yⱼ‖²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to: each point in exactly 1 cluster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exactly k clusters
</a:t>
            </a:r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NP-hard even in 2D (Aloise et al. 2009)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987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Hard?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4173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S(150,5) &gt; 10⁹³ possible partitions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finds local optima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polynomial exact algorithm known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743200"/>
            <a:ext cx="411480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28163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32461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Generation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variables, polynomial constraints
Price new columns via auxiliary problem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Branch-and-Bound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Ryan-Foster branching on LP fractions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lower bound certifies exact optimality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Generation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86384"/>
            <a:ext cx="8503920" cy="2286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5029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87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Set-Partitioning LP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 Σₜ cₜ zₜ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s.t. Σₜ aᵢₜ zₜ ≥ 1   ∀i  (covering)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Σₜ zₜ = k          (cardinality)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zₜ ≥ 0             (LP relaxation)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914400"/>
            <a:ext cx="320040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06440" y="9875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06440" y="141732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rc(t) = cₜ + σ − Σᵢ∈ₜ λᵢ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rc(t) &lt; 0: add column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rc(t) ≥ 0: LP optimal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3375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Generation Loop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1480" y="413308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RMP (Gurobi barrier)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23160" y="4206240"/>
            <a:ext cx="15544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78608" y="37490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24328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24328" y="413308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duals λᵢ, σ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36008" y="4206240"/>
            <a:ext cx="15544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91456" y="37490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37176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37176" y="413308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auxiliary → find cluster with rc &lt; 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48856" y="4206240"/>
            <a:ext cx="15544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04304" y="37490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0024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50024" y="413308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found: add column and repeat. Else: LP optimal.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Problem: Pricing the New Column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86384"/>
            <a:ext cx="8503920" cy="2286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5039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87552"/>
            <a:ext cx="8138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(Prop. 4): Two points can co-cluster only if their hyperspheres intersect:  ‖pᵢ−pⱼ‖ ≤ √λᵢ + √λⱼ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20240"/>
            <a:ext cx="40233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47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— s = 2 (Exact)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395728"/>
            <a:ext cx="3749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intersection geometry
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discs Dᵢ = {y : ‖pᵢ−y‖ ≤ √λᵢ}
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Enumerate all disc arrangement regions
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region → candidate centroid
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Evaluate all subsets → exact optimal
</a:t>
            </a:r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O(n³) exact  •  Used for gr202, gr666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4114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920240"/>
            <a:ext cx="4114800" cy="411480"/>
          </a:xfrm>
          <a:prstGeom prst="rect">
            <a:avLst/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9476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 — General ℝˢ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2395728"/>
            <a:ext cx="38404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Hypersphere intersection graph + Dinkelbach
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graph G: edge ↔ spheres intersect
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Optimal cluster is a clique in G
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 clique: solve fractional 0-1 QP via
  Dinkelbach's parametric algorithm
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0-1 QP: vectorized exhaustive (m≤18)
</a:t>
            </a:r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Iris, Glass, Body datasets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6-Phase Implementation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86384"/>
            <a:ext cx="8503920" cy="2286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2743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149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Foundation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90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phase1_foundation.py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80136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MSSCInstance · Cluster · make_cluster · Huygens cost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9601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960120"/>
            <a:ext cx="2743200" cy="457200"/>
          </a:xfrm>
          <a:prstGeom prst="rect">
            <a:avLst/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0149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Heuristics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1490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phase2_kmeans/jmeans.py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0" y="180136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 initialization · j-means local search UB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9601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960120"/>
            <a:ext cx="2743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0149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LP Master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1490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phase3_rmp.py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09360" y="180136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Gurobi barrier LP · dual extraction · reduced cost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926080"/>
            <a:ext cx="274320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809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Aux 2D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456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phase4_algorithm1.py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76732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intersection geometry · region enumeration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29260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2926080"/>
            <a:ext cx="274320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9809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 ·  Aux General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3456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phase5_algorithm2.py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376732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Hypersphere graph · Dinkelbach · vectorized 0-1 QP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29260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926080"/>
            <a:ext cx="274320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9809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 ·  B&amp;B Solver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3456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phase6_bnb.py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09360" y="376732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Ryan-Foster branching · constrained aux · best-first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Critical Bugs Found and Fixed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86384"/>
            <a:ext cx="8503920" cy="2286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54864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0149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Premature CG Prune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033272"/>
            <a:ext cx="1097280" cy="256032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1325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lp_obj &gt;= ub: break before auxiliary was called. Returned j-means cost as if exact. Fix: remove 3 lines.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755648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755648"/>
            <a:ext cx="548640" cy="7132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9280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18105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 Side Effect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1828800"/>
            <a:ext cx="1097280" cy="256032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21214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for Bug 1 accidentally deleted the correct B&amp;B prune. Fix: verify file after every automated edit.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551176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551176"/>
            <a:ext cx="548640" cy="7132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68833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2606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Gurobi Dual Sign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2624328"/>
            <a:ext cx="1097280" cy="256032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291693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negated for &gt;= constraints. Fix: lam = max(lam, 0.0) — do NOT negate.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346704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346704"/>
            <a:ext cx="548640" cy="713232"/>
          </a:xfrm>
          <a:prstGeom prst="rect">
            <a:avLst/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8386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05840" y="34015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SLSQP Infeasibility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83280" y="3419856"/>
            <a:ext cx="1097280" cy="256032"/>
          </a:xfrm>
          <a:prstGeom prst="rect">
            <a:avLst/>
          </a:prstGeom>
          <a:solidFill>
            <a:srgbClr val="2E5EA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5840" y="371246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SLSQP start fell outside feasible region. Fix: multiple random starting points.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142232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142232"/>
            <a:ext cx="548640" cy="713232"/>
          </a:xfrm>
          <a:prstGeom prst="rect">
            <a:avLst/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27939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05840" y="41970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Centroid in RC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83280" y="4215384"/>
            <a:ext cx="1097280" cy="256032"/>
          </a:xfrm>
          <a:prstGeom prst="rect">
            <a:avLst/>
          </a:prstGeom>
          <a:solidFill>
            <a:srgbClr val="2E5EA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05840" y="45079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y* used instead of true cluster mean. Fix: recompute centroid as mean of selected points (Prop. 1).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Validation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86384"/>
            <a:ext cx="8503920" cy="2286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192024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±0.40%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38912" y="1697126"/>
            <a:ext cx="1773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Fisher's Iris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n=150, s=4, Table 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96012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96012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097280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±0.13%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96312" y="1697126"/>
            <a:ext cx="1773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n=214, s=9, Table 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96012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960120"/>
            <a:ext cx="1920240" cy="64008"/>
          </a:xfrm>
          <a:prstGeom prst="rect">
            <a:avLst/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097280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±0.05%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53712" y="1697126"/>
            <a:ext cx="1773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Grotschel 202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n=202, s=2, Table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37960" y="96012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7960" y="960120"/>
            <a:ext cx="192024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1097280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±0.001%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611112" y="1697126"/>
            <a:ext cx="1773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Grotschel 666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n=666, s=2, Table 4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77440"/>
          <a:ext cx="35661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097280"/>
                <a:gridCol w="109728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152.348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152.369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46.446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46.536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+0.192%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29.989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29.880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-0.363%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-0.080%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886200"/>
          <a:ext cx="35661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097280"/>
                <a:gridCol w="109728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63.2478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63.3284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+0.127%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39.4983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39.4983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26.7675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26.7675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2377440"/>
          <a:ext cx="37490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188720"/>
                <a:gridCol w="118872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23437.4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23437.4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3792.49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3794.49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+0.053%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799.311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799.311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3886200"/>
          <a:ext cx="37490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188720"/>
                <a:gridCol w="118872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1754012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1754013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224183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224184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35179.5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35179.6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19"/>
          <p:cNvSpPr/>
          <p:nvPr/>
        </p:nvSpPr>
        <p:spPr>
          <a:xfrm>
            <a:off x="365760" y="48463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results: status=optimal, n_nodes=1 (LP-certified exact solutions)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Profiling &amp; Optimization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86384"/>
            <a:ext cx="8503920" cy="2286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50392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241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Finding: Auxiliary is 139× more expensive than LP solve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783080"/>
          <a:ext cx="38404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389120" y="1783080"/>
            <a:ext cx="4389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89120" y="1783080"/>
            <a:ext cx="43891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26280" y="182880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1 — Vectorized Graph Build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26280" y="2221992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Python O(n²) loop with NumPy matrix multiply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29ms → 1.3ms  =  21.6× speedup  •  Identical edges verified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89120" y="3291840"/>
            <a:ext cx="4389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89120" y="3291840"/>
            <a:ext cx="4389120" cy="384048"/>
          </a:xfrm>
          <a:prstGeom prst="rect">
            <a:avLst/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26280" y="333756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2 — Clique Bound Pruning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26280" y="3739896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Dinkelbach if sigma − Σλ ≥ best_rc (valid lower bound)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27–35% fewer Dinkelbach calls  •  RC correctness verified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auxiliary speedup: 1.36×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86384"/>
            <a:ext cx="8503920" cy="2286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24712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1612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at Integer Vertex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Gurobi barrier+crossover returns integer LP solutions for set-partitioning problems. B&amp;B branching never fires in practice — n_nodes=1 for all 34 validated instances.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12471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4300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22392" y="11612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Degenerate LP Duals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optimum, 88–94% of λᵢ are zero (degenerate vertex). Stabilized CG cannot help because there is no dual oscillation — LP is solved in one shot.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136392"/>
            <a:ext cx="475488" cy="47548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5468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31729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139× Auxiliary Bottleneck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7033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construction (63%) + Dinkelbach loop (36%) dominate. LP solve is only 1% of auxiliary time. Correct optimization target: the auxiliary, not the LP.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97180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136392"/>
            <a:ext cx="475488" cy="475488"/>
          </a:xfrm>
          <a:prstGeom prst="ellipse">
            <a:avLst/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15468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22392" y="31729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Vectorization is the Key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7033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a Python double loop with a single BLAS matrix multiply gives 21.6× speedup on graph construction. Correctness verified by edge set comparison.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Optimization Directions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86384"/>
            <a:ext cx="8503920" cy="2286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benchmarks show ~1× end-to-end speedup: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run only 40–60 CG iterations total (LP is solved at first Gurobi call). Each iteration saves ~12ms. Total saved: ~480ms vs 173–978s runtime.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20240"/>
            <a:ext cx="41148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2084832"/>
            <a:ext cx="566928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208483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206654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Warm-Start Dinkelbach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243230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q from previous iteration (not 0). Cuts Dinkelbach iterations 30–50%. Works even on current small benchmarks.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9202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920240"/>
            <a:ext cx="411480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2084832"/>
            <a:ext cx="566928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208483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18888" y="206654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Dinkelbach Termination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18888" y="243230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first iteration: if q* &gt; best_rc − σ, this clique cannot win. Skip rest of Dinkelbach loop.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429000"/>
            <a:ext cx="4114800" cy="73152"/>
          </a:xfrm>
          <a:prstGeom prst="rect">
            <a:avLst/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0" y="3593592"/>
            <a:ext cx="566928" cy="256032"/>
          </a:xfrm>
          <a:prstGeom prst="rect">
            <a:avLst/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359359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" y="357530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Ball-Tree Neighbor Lookup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" y="394106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O(n²) pairwise check with O(n log n) ball-tree query. Helps at n≥500 where graph build dominates.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4290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429000"/>
            <a:ext cx="41148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593592"/>
            <a:ext cx="56692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83880" y="359359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18888" y="357530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Telugu / Large-n Instances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18888" y="394106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n=871 is currently intractable. The combined optimizations + warm Dinkelbach could make k=40–50 feasible.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E5EAA">
              <a:alpha val="25000"/>
            </a:srgbClr>
          </a:solidFill>
          <a:ln w="12700">
            <a:solidFill>
              <a:srgbClr val="2E5EAA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27432"/>
          </a:xfrm>
          <a:prstGeom prst="rect">
            <a:avLst/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62456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3350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6-phase implementation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13441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phases validated against paper benchmarks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75104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6596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385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datasets validated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19476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±0.4%  ·  Glass ±0.13%  ·  gr202 ±0.05%  ·  gr666 ±0.001%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57860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6946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542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critical bugs fixed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255117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Bug 1: premature CG prune that invalidated optimality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18211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7296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1455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Profiling-driven optimization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0" y="31546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139× aux bottleneck identified and targeted precisely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78561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76472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7490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21.6× graph speedup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37581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loop → NumPy BLAS, identical results proven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438912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379976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43525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27–35% Dinkelbach savings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31920" y="43616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valid clique bound pruning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773168"/>
            <a:ext cx="8046720" cy="27432"/>
          </a:xfrm>
          <a:prstGeom prst="rect">
            <a:avLst/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8463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Aloise, Hansen, Liberti — EJOR 2012  ·  Python 3.10  ·  Gurobi 13.0.1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MSSC Exact Branch-and-Bound Solver</dc:title>
  <dc:subject>PptxGenJS Presentation</dc:subject>
  <dc:creator>CS722 Project</dc:creator>
  <cp:lastModifiedBy>CS722 Project</cp:lastModifiedBy>
  <cp:revision>1</cp:revision>
  <dcterms:created xsi:type="dcterms:W3CDTF">2026-04-21T10:36:07Z</dcterms:created>
  <dcterms:modified xsi:type="dcterms:W3CDTF">2026-04-21T10:36:07Z</dcterms:modified>
</cp:coreProperties>
</file>