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229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Exact Minimum Sum-of-Squares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DCFF"/>
                </a:solidFill>
              </a:rPr>
              <a:t>via Column Generation and Branch-and-Bound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48C00"/>
                </a:solidFill>
              </a:rPr>
              <a:t>Optimization-Based Approach with Advanced Vectorised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035808"/>
            <a:ext cx="7616952" cy="36576"/>
          </a:xfrm>
          <a:prstGeom prst="rect">
            <a:avLst/>
          </a:prstGeom>
          <a:solidFill>
            <a:srgbClr val="B4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Godugu Deep Suman   ·   Devulapalli Tharun   ·   Md Nazib 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4D2F0"/>
                </a:solidFill>
              </a:rPr>
              <a:t>Dept. of CSE, National Institute of Technology Karnataka, Surathkal  ·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5486400" cy="1051560"/>
          </a:xfrm>
          <a:prstGeom prst="rect">
            <a:avLst/>
          </a:prstGeom>
          <a:solidFill>
            <a:srgbClr val="D2E6FA"/>
          </a:solidFill>
          <a:ln w="1270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874"/>
                </a:solidFill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98755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</a:rPr>
              <a:t>Introduction &amp; 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486400" cy="1051560"/>
          </a:xfrm>
          <a:prstGeom prst="rect">
            <a:avLst/>
          </a:prstGeom>
          <a:solidFill>
            <a:srgbClr val="D2E6FA"/>
          </a:solidFill>
          <a:ln w="1270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874"/>
                </a:solidFill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2199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</a:rPr>
              <a:t>Literature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5486400" cy="1051560"/>
          </a:xfrm>
          <a:prstGeom prst="rect">
            <a:avLst/>
          </a:prstGeom>
          <a:solidFill>
            <a:srgbClr val="D2E6FA"/>
          </a:solidFill>
          <a:ln w="1270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874"/>
                </a:solidFill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5643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</a:rPr>
              <a:t>Problem Formulation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26280"/>
            <a:ext cx="5486400" cy="1051560"/>
          </a:xfrm>
          <a:prstGeom prst="rect">
            <a:avLst/>
          </a:prstGeom>
          <a:solidFill>
            <a:srgbClr val="D2E6FA"/>
          </a:solidFill>
          <a:ln w="1270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874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9087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</a:rPr>
              <a:t>Solution Methodology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822960"/>
            <a:ext cx="5486400" cy="1051560"/>
          </a:xfrm>
          <a:prstGeom prst="rect">
            <a:avLst/>
          </a:prstGeom>
          <a:solidFill>
            <a:srgbClr val="D2E6FA"/>
          </a:solidFill>
          <a:ln w="1270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914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874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98755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</a:rPr>
              <a:t>Implementation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057400"/>
            <a:ext cx="5486400" cy="1051560"/>
          </a:xfrm>
          <a:prstGeom prst="rect">
            <a:avLst/>
          </a:prstGeom>
          <a:solidFill>
            <a:srgbClr val="D2E6FA"/>
          </a:solidFill>
          <a:ln w="1270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874"/>
                </a:solidFill>
              </a:rPr>
              <a:t>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22199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</a:rPr>
              <a:t>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291840"/>
            <a:ext cx="5486400" cy="1051560"/>
          </a:xfrm>
          <a:prstGeom prst="rect">
            <a:avLst/>
          </a:prstGeom>
          <a:solidFill>
            <a:srgbClr val="D2E6FA"/>
          </a:solidFill>
          <a:ln w="1270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383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874"/>
                </a:solidFill>
              </a:rPr>
              <a:t>7.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45643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</a:rPr>
              <a:t>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526280"/>
            <a:ext cx="5486400" cy="1051560"/>
          </a:xfrm>
          <a:prstGeom prst="rect">
            <a:avLst/>
          </a:prstGeom>
          <a:solidFill>
            <a:srgbClr val="D2E6FA"/>
          </a:solidFill>
          <a:ln w="1270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874"/>
                </a:solidFill>
              </a:rPr>
              <a:t>8.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69087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</a:rPr>
              <a:t>Conclusion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Real-World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852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Partition n observations into k meaningful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91056"/>
            <a:ext cx="5852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Applications: medical imaging, market segmentation,
   geographic routing, gene expression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66543"/>
            <a:ext cx="5852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Classical k-means (Lloyd’s) is fast but cannot certify optimality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68833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990088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MSSC is NP-hard  (Aloise et al., 2009)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29000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2ⁿ possible cluster assignments to consider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867912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Heuristics find local optima, not global optima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777240"/>
            <a:ext cx="5577840" cy="2331720"/>
          </a:xfrm>
          <a:prstGeom prst="rect">
            <a:avLst/>
          </a:prstGeom>
          <a:solidFill>
            <a:srgbClr val="D2E6FA"/>
          </a:solidFill>
          <a:ln w="1524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8503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Why Exact Solvers 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1612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Safety-critical clustering (medical, structural)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4996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Benchmark-quality reference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8379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Certify that heuristics are near-optimal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1762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Foundation for robust downstream decisions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73552"/>
            <a:ext cx="5577840" cy="1234440"/>
          </a:xfrm>
          <a:prstGeom prst="rect">
            <a:avLst/>
          </a:prstGeom>
          <a:solidFill>
            <a:srgbClr val="FFDCDC"/>
          </a:solidFill>
          <a:ln w="15240">
            <a:solidFill>
              <a:srgbClr val="B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3467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0000"/>
                </a:solidFill>
              </a:rPr>
              <a:t>Our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657600"/>
            <a:ext cx="5303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Build an exact, certifiably optimal MSSC solver
with practical speed on standard benchmarks.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Base Paper &amp;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1463040"/>
          </a:xfrm>
          <a:prstGeom prst="rect">
            <a:avLst/>
          </a:prstGeom>
          <a:solidFill>
            <a:srgbClr val="D2E6FA"/>
          </a:solidFill>
          <a:ln w="1524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850392"/>
            <a:ext cx="11338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874"/>
                </a:solidFill>
              </a:rP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161288"/>
            <a:ext cx="11338559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D. Aloise, P. Hansen, L. Liberti
"An improved column generation algorithm for minimum sum-of-squares clustering"
Mathematical Programming, 134(2):539–565, 2012.
DOI: 10.1007/s10107-011-0437-7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45973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Contributions (Paper)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61488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Set-covering LP relaxation over all cluster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0400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Exact polynomial-time auxiliary subproblems (Algorithms 1 &amp;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639312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Ryan–Foster branching for integrality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78224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Validated on TSPLIB + UCI benchmarks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42316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5973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Related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61488"/>
            <a:ext cx="5577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Selim &amp; Ismail (1984): DP-based exact MSSC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5577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Du Merle et al. (2000): Interior point 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39312"/>
            <a:ext cx="5577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Hansen &amp; Mladenović (2001): J-means local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78224"/>
            <a:ext cx="5577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Dinkelbach (1967): Fractional programming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517136"/>
            <a:ext cx="5577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Lloyd (1982): k-means convergence theorem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n entities {x₁,…,xₙ} ⊂ ℝˢ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2704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Integer k (number of clusters)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29968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6654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68296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Partition P={C₁,…,Cₖ} of {1,…,n}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779776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Cluster centroids μⱼ ∈ ℝˢ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82696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31927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621024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Every entity assigned to exactly one 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032504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Exactly k non-empty clusters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777240"/>
            <a:ext cx="5577840" cy="1828800"/>
          </a:xfrm>
          <a:prstGeom prst="rect">
            <a:avLst/>
          </a:prstGeom>
          <a:solidFill>
            <a:srgbClr val="D2E6FA"/>
          </a:solidFill>
          <a:ln w="1524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8503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Optimal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161288"/>
            <a:ext cx="53035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Minimise total within-cluster variance.
Optimal centroid = arithmetic mean:
    μⱼ* = (1/|Cⱼ|) · Σᵢ∈Cⱼ  xᵢ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8892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82549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Benchmark Instances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127248"/>
            <a:ext cx="139446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3182112"/>
            <a:ext cx="12847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95260" y="3127248"/>
            <a:ext cx="139446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50124" y="3182112"/>
            <a:ext cx="12847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3127248"/>
            <a:ext cx="139446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584" y="3182112"/>
            <a:ext cx="12847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84180" y="3127248"/>
            <a:ext cx="139446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39044" y="3182112"/>
            <a:ext cx="12847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529584"/>
            <a:ext cx="13944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3575303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Iris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95260" y="3529584"/>
            <a:ext cx="13944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50124" y="3575303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3529584"/>
            <a:ext cx="13944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3575303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84180" y="3529584"/>
            <a:ext cx="13944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39044" y="3575303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2–10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931920"/>
            <a:ext cx="13944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3977639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Glass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95260" y="3931920"/>
            <a:ext cx="13944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50124" y="3977639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3931920"/>
            <a:ext cx="13944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44584" y="3977639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84180" y="3931920"/>
            <a:ext cx="13944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39044" y="3977639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30–50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334256"/>
            <a:ext cx="13944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55664" y="4379976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gr202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95260" y="4334256"/>
            <a:ext cx="13944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50124" y="4379976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720" y="4334256"/>
            <a:ext cx="13944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44584" y="4379976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84180" y="4334256"/>
            <a:ext cx="13944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39044" y="4379976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2–30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4736592"/>
            <a:ext cx="13944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55664" y="4782312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gr666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95260" y="4736592"/>
            <a:ext cx="13944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50124" y="4782312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666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4736592"/>
            <a:ext cx="13944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44584" y="4782312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84180" y="4736592"/>
            <a:ext cx="13944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39044" y="4782312"/>
            <a:ext cx="12847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2–50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Mathematical Formulation: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MSSC Objective (Minimum Sum-of-Squares Clustering)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115568"/>
            <a:ext cx="8869680" cy="731520"/>
          </a:xfrm>
          <a:prstGeom prst="rect">
            <a:avLst/>
          </a:prstGeom>
          <a:solidFill>
            <a:srgbClr val="EBEBEB"/>
          </a:solidFill>
          <a:ln w="1270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20700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1414"/>
                </a:solidFill>
              </a:rPr>
              <a:t>min   Σⱼ  Σᵢ∈Cⱼ  ‖xᵢ − μⱼ‖²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93976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Set-Covering Integer Program  (Column Generation formulation)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2395728"/>
            <a:ext cx="8869680" cy="658368"/>
          </a:xfrm>
          <a:prstGeom prst="rect">
            <a:avLst/>
          </a:prstGeom>
          <a:solidFill>
            <a:srgbClr val="EBEBEB"/>
          </a:solidFill>
          <a:ln w="1270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48716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1414"/>
                </a:solidFill>
              </a:rPr>
              <a:t>min   Σ_{C∈ᶞ}  w(C) · λ_C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2186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</a:rPr>
              <a:t>where: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1868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</a:rPr>
              <a:t>w(C)  =  Σᵢ∈C  ‖xᵢ − μ(C)‖²        (within-cluster cost)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57600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</a:rPr>
              <a:t>μ(C)  =  (1/|C|) · Σᵢ∈C xᵢ          (optimal centroid)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96512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</a:rPr>
              <a:t>λ_C  ∈  {0, 1}                          (select cluster C or not)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11612880" cy="960120"/>
          </a:xfrm>
          <a:prstGeom prst="rect">
            <a:avLst/>
          </a:prstGeom>
          <a:solidFill>
            <a:srgbClr val="FFDCDC"/>
          </a:solidFill>
          <a:ln w="15240">
            <a:solidFill>
              <a:srgbClr val="B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736592"/>
            <a:ext cx="11338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0000"/>
                </a:solidFill>
              </a:rPr>
              <a:t>Key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047488"/>
            <a:ext cx="113385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|C| = 2ⁿ — intractable to enumerate directly  ⟹  use column generation to add only improving columns at each LP iteration.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Mathematical Formulation: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Set-Covering IP Constraints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1430000" cy="6583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1414"/>
                </a:solidFill>
              </a:rPr>
              <a:t>Σ_{C: i∈C}  λ_C  =  1       ∀ i ∈ {1, …, n}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2984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003874"/>
                </a:solidFill>
              </a:rPr>
              <a:t>(Coverage)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6583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1414"/>
                </a:solidFill>
              </a:rPr>
              <a:t>Σ_{C∈ᶞ}  λ_C  = 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12140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003874"/>
                </a:solidFill>
              </a:rPr>
              <a:t>(Cardinality)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16352"/>
            <a:ext cx="11430000" cy="6583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44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1414"/>
                </a:solidFill>
              </a:rPr>
              <a:t>λ_C  ∈  {0, 1}            ∀ C ∈ 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944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003874"/>
                </a:solidFill>
              </a:rPr>
              <a:t>(Integrality)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30752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76732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Reduced Cost (column pricing)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5303520" cy="658368"/>
          </a:xfrm>
          <a:prstGeom prst="rect">
            <a:avLst/>
          </a:prstGeom>
          <a:solidFill>
            <a:srgbClr val="EBEBEB"/>
          </a:solidFill>
          <a:ln w="1016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788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41414"/>
                </a:solidFill>
              </a:rPr>
              <a:t>w̅(C) = w(C) − Σᵢ∈C πᵢ − μ₀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Add column C only if  w̅(C) &lt;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760720" cy="1920240"/>
          </a:xfrm>
          <a:prstGeom prst="rect">
            <a:avLst/>
          </a:prstGeom>
          <a:solidFill>
            <a:srgbClr val="D2E6FA"/>
          </a:solidFill>
          <a:ln w="1524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8039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Ryan–Foster Branching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4864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On a fractional pair (i, j):
  SAME :  force i, j into the same cluster
  DIFF :  force i, j into different clusters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Decision Variables &amp;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Decision Variables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3870960" cy="420624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170432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Symbol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5280" y="1115568"/>
            <a:ext cx="3870960" cy="420624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0144" y="1170432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6240" y="1115568"/>
            <a:ext cx="3870960" cy="420624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1104" y="1170432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36192"/>
            <a:ext cx="3870960" cy="420624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581912"/>
            <a:ext cx="3761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λ_C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5280" y="1536192"/>
            <a:ext cx="3870960" cy="420624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144" y="1581912"/>
            <a:ext cx="3761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Binary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6240" y="1536192"/>
            <a:ext cx="3870960" cy="420624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1104" y="1581912"/>
            <a:ext cx="3761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 if cluster C is selected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956816"/>
            <a:ext cx="3870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2002536"/>
            <a:ext cx="3761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μ(C)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45280" y="1956816"/>
            <a:ext cx="3870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0144" y="2002536"/>
            <a:ext cx="3761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ℝˢ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6240" y="1956816"/>
            <a:ext cx="3870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1104" y="2002536"/>
            <a:ext cx="3761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Centroid of cluster C (determined by membership)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12848"/>
            <a:ext cx="116128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24942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Parameters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578608"/>
            <a:ext cx="387096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2633472"/>
            <a:ext cx="3761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Symbol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5280" y="2578608"/>
            <a:ext cx="387096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0144" y="2633472"/>
            <a:ext cx="3761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240" y="2578608"/>
            <a:ext cx="387096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71104" y="2633472"/>
            <a:ext cx="3761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980944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" y="3026663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280" y="2980944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0144" y="3026663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Integer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6240" y="2980944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71104" y="3026663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Number of entities  (150–666 in benchmarks)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383279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3428999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5280" y="3383279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0144" y="3428999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Integer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240" y="3383279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1104" y="3428999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Number of clusters  (2–50)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785615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" y="3831335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5280" y="3785615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0144" y="3831335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Integer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6240" y="3785615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1104" y="3831335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Feature dimension   (2–9)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187952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" y="4233672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xᵢ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45280" y="4187952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0144" y="4233672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ℝˢ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6240" y="4187952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71104" y="4233672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Feature vector of entity 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590288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" y="4636007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w(C)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45280" y="4590288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00144" y="4636007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ℝ≥₀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16240" y="4590288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71104" y="4636007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Within-cluster sum of squares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992624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" y="5038344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πᵢ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45280" y="4992624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00144" y="5038344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ℝ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16240" y="4992624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71104" y="5038344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Dual variable — coverage constraint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5394960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9184" y="5440680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μ₀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45280" y="5394960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00144" y="5440680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ℝ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16240" y="5394960"/>
            <a:ext cx="387096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71104" y="5440680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Dual variable — cardinality constraint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797296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9184" y="5843016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w̅(C)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45280" y="5797296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00144" y="5843016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ℝ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16240" y="5797296"/>
            <a:ext cx="3870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71104" y="5843016"/>
            <a:ext cx="3761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Reduced cost of column 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Solution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Column Generation B&amp;B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943600" cy="530352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1.  Initialise:  k-means++ → j-means → initial UB + seed columns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64792"/>
            <a:ext cx="5943600" cy="530352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3794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2.  Solve RMP:  LP relaxation over active columns  (Gurobi barrier)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86584"/>
            <a:ext cx="5943600" cy="530352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5973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3.  Pricing:  find most negative w̅(C)  [Alg1: disc geometry / Alg2: hypersphere+Dinkelbach]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08376"/>
            <a:ext cx="5943600" cy="530352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8152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4.  Iterate:  add improving column, re-solve, until no negative RC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30168"/>
            <a:ext cx="5943600" cy="530352"/>
          </a:xfrm>
          <a:prstGeom prst="rect">
            <a:avLst/>
          </a:prstGeom>
          <a:solidFill>
            <a:srgbClr val="FFF8C8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5.  Branch:  Ryan–Foster on fractional pair (i,j)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51960"/>
            <a:ext cx="5943600" cy="530352"/>
          </a:xfrm>
          <a:prstGeom prst="rect">
            <a:avLst/>
          </a:prstGeom>
          <a:solidFill>
            <a:srgbClr val="FFF8C8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2511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6.  Prune:  discard nodes with LP bound ≥ 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73752"/>
            <a:ext cx="5943600" cy="530352"/>
          </a:xfrm>
          <a:prstGeom prst="rect">
            <a:avLst/>
          </a:prstGeom>
          <a:solidFill>
            <a:srgbClr val="D2F0D2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4690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</a:rPr>
              <a:t>7.  Terminate:  all nodes pruned  ⟹  OPTIMAL 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B&amp;B Flow Diagram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143000"/>
            <a:ext cx="5486400" cy="530352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41414"/>
                </a:solidFill>
              </a:rPr>
              <a:t>k-means++ + j-means  →  Initial 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65506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3874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783080"/>
            <a:ext cx="5486400" cy="530352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41414"/>
                </a:solidFill>
              </a:rPr>
              <a:t>Solve RMP  (LP relaxation)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9514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3874"/>
                </a:solidFill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423160"/>
            <a:ext cx="5486400" cy="530352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41414"/>
                </a:solidFill>
              </a:rPr>
              <a:t>Auxiliary subproblem  (pricing)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935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3874"/>
                </a:solidFill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063239"/>
            <a:ext cx="5486400" cy="530352"/>
          </a:xfrm>
          <a:prstGeom prst="rect">
            <a:avLst/>
          </a:prstGeom>
          <a:solidFill>
            <a:srgbClr val="FFF8C8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1546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41414"/>
                </a:solidFill>
              </a:rPr>
              <a:t>Reduced Cost &lt; 0 ?  → Yes → back to RMP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57530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3874"/>
                </a:solidFill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703320"/>
            <a:ext cx="5486400" cy="530352"/>
          </a:xfrm>
          <a:prstGeom prst="rect">
            <a:avLst/>
          </a:prstGeom>
          <a:solidFill>
            <a:srgbClr val="FFF8C8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7947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41414"/>
                </a:solidFill>
              </a:rPr>
              <a:t>Integer solution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21538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3874"/>
                </a:solidFill>
              </a:rPr>
              <a:t>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343400"/>
            <a:ext cx="5486400" cy="530352"/>
          </a:xfrm>
          <a:prstGeom prst="rect">
            <a:avLst/>
          </a:prstGeom>
          <a:solidFill>
            <a:srgbClr val="EBEBEB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434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41414"/>
                </a:solidFill>
              </a:rPr>
              <a:t>Yes →  Update UB  |  No →  Branch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85546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3874"/>
                </a:solidFill>
              </a:rPr>
              <a:t>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983479"/>
            <a:ext cx="5486400" cy="530352"/>
          </a:xfrm>
          <a:prstGeom prst="rect">
            <a:avLst/>
          </a:prstGeom>
          <a:solidFill>
            <a:srgbClr val="D2F0D2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0749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1414"/>
                </a:solidFill>
              </a:rPr>
              <a:t>OPTIMAL 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Implementation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70408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Module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3611880" cy="36576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170432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115568"/>
            <a:ext cx="3611880" cy="36576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41063" y="1170432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Responsibility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8132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152704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phase1_foundation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48132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41063" y="152704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Data structures: Instance, Cluster, 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4708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892807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phase2_kmeans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184708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41063" y="1892807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k-means++ + Lloyd’s algorithm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1284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225856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phase2_jmeans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221284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41063" y="225856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J-means local search (teleportation)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7860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262432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phase3_rmp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257860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41063" y="262432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Gurobi RMP  (set-covering LP)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94436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2990087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phase4_algorithm1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294436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41063" y="2990087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Exact 2D auxiliary  (disc geometry)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1012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335584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phase5_algorithm2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331012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41063" y="335584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General auxiliary  (hypersphere graph)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67588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372160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phase5_dinkelbach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367588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41063" y="372160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Dinkelbach fractional programming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408736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phase5_graph_vectorized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86200" y="404164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41063" y="408736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Vectorised graph builder  (21.6× speedup)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40740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445312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phase5_alg2_pruned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86200" y="440740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41063" y="445312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Pruned auxiliary  (bound pruning)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77316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481888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phase6_bnb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86200" y="477316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41063" y="481888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Original B&amp;B solver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13892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" y="518464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phase8_fast_jmeans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86200" y="513892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41063" y="518464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Vectorised multi-step j-means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50468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555040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phase8_bnb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86200" y="5504688"/>
            <a:ext cx="3611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41063" y="555040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Fast B&amp;B with Phase 8 screening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87044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" y="591616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mssc_clean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86200" y="5870448"/>
            <a:ext cx="3611880" cy="365760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41063" y="5916168"/>
            <a:ext cx="3502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Standalone solver  (Gurobi + PuLP)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80960" y="777240"/>
            <a:ext cx="42976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90688" y="81381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0" y="11704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Python 3.10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80960" y="15727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Gurobi 11.0  (barrier LP solver)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197510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PuLP / CBC  (open-source fallback)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0" y="23774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NumPy 1.24  (vectorised ops)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277977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SciPy 1.10  (distance utilities)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80960" y="3291840"/>
            <a:ext cx="42976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90688" y="332841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Flow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80960" y="3675887"/>
            <a:ext cx="4297680" cy="384048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0" y="37307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41414"/>
                </a:solidFill>
              </a:rPr>
              <a:t>Dataset  (.data / .tsp)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404164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874"/>
                </a:solidFill>
              </a:rPr>
              <a:t>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80960" y="4178807"/>
            <a:ext cx="4297680" cy="384048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0" y="42336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41414"/>
                </a:solidFill>
              </a:rPr>
              <a:t>k-means++ / j-means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84080" y="45445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874"/>
                </a:solidFill>
              </a:rPr>
              <a:t>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80960" y="4681727"/>
            <a:ext cx="4297680" cy="384048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72400" y="4736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41414"/>
                </a:solidFill>
              </a:rPr>
              <a:t>RMP LP  (Gurobi)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84080" y="50474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874"/>
                </a:solidFill>
              </a:rPr>
              <a:t>▼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80960" y="5184648"/>
            <a:ext cx="4297680" cy="384048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72400" y="5239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41414"/>
                </a:solidFill>
              </a:rPr>
              <a:t>B&amp;B Tree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84080" y="555040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874"/>
                </a:solidFill>
              </a:rPr>
              <a:t>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80960" y="5687568"/>
            <a:ext cx="4297680" cy="384048"/>
          </a:xfrm>
          <a:prstGeom prst="rect">
            <a:avLst/>
          </a:prstGeom>
          <a:solidFill>
            <a:srgbClr val="D2E6FA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772400" y="5742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41414"/>
                </a:solidFill>
              </a:rPr>
              <a:t>Optimal Partition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 1: Baseline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Original B&amp;B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Sequential j-means: evaluate m=n−k candidates one-by-one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Full Lloyd’s convergence per 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93391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Standard Algorithm 2  (no pruning)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32303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Sequential graph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71215"/>
            <a:ext cx="58521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Best-first B&amp;B with max_nodes = 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3756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37413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Baseline Validation  (vs. Paper)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75887"/>
            <a:ext cx="195072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3730751"/>
            <a:ext cx="1840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25040" y="3675887"/>
            <a:ext cx="195072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79904" y="3730751"/>
            <a:ext cx="1840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Paper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5760" y="3675887"/>
            <a:ext cx="195072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30623" y="3730751"/>
            <a:ext cx="1840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Our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78224"/>
            <a:ext cx="19507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4123944"/>
            <a:ext cx="1840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Iris  k=5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5040" y="4078224"/>
            <a:ext cx="19507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79904" y="4123944"/>
            <a:ext cx="1840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46.5356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5760" y="4078224"/>
            <a:ext cx="1950720" cy="402336"/>
          </a:xfrm>
          <a:prstGeom prst="rect">
            <a:avLst/>
          </a:prstGeom>
          <a:solidFill>
            <a:srgbClr val="D2F0D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0623" y="4123944"/>
            <a:ext cx="1840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46.5356 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480559"/>
            <a:ext cx="1950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4526279"/>
            <a:ext cx="1840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gr202 k=15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25040" y="4480559"/>
            <a:ext cx="1950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79904" y="4526279"/>
            <a:ext cx="1840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2320.08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75760" y="4480559"/>
            <a:ext cx="1950720" cy="402336"/>
          </a:xfrm>
          <a:prstGeom prst="rect">
            <a:avLst/>
          </a:prstGeom>
          <a:solidFill>
            <a:srgbClr val="D2F0D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0623" y="4526279"/>
            <a:ext cx="1840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2320.08 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882896"/>
            <a:ext cx="19507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" y="4928616"/>
            <a:ext cx="1840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gr666 k=5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25040" y="4882896"/>
            <a:ext cx="19507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79904" y="4928616"/>
            <a:ext cx="1840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485088.09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5760" y="4882896"/>
            <a:ext cx="1950720" cy="402336"/>
          </a:xfrm>
          <a:prstGeom prst="rect">
            <a:avLst/>
          </a:prstGeom>
          <a:solidFill>
            <a:srgbClr val="D2F0D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30623" y="4928616"/>
            <a:ext cx="1840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485088.09 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777240"/>
            <a:ext cx="5577840" cy="2788920"/>
          </a:xfrm>
          <a:prstGeom prst="rect">
            <a:avLst/>
          </a:prstGeom>
          <a:solidFill>
            <a:srgbClr val="FFDCDC"/>
          </a:solidFill>
          <a:ln w="15240">
            <a:solidFill>
              <a:srgbClr val="B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8503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0000"/>
                </a:solidFill>
              </a:rPr>
              <a:t>Bottlenecks Identified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11612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J-means: m=n−k sequential Lloyd runs — dominant cost for Glass (s=9)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14996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Graph builder: O(n²) pairwise distance checks in pure Python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18379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Dinkelbach: called per graph node even when provably suboptimal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21762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LP cycling: suboptimal UB causes indefinite cycling at Iris k=10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 2: Manual Optimizations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Vectorised Graph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Replaced O(n²) Python loop with NumPy broadcasting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Batch-compute all pairwise disc intersections simultaneously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29967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Result:  21.6× speedup on graph construction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060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6426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Pruned Auxiliary Subproblem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94436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Singleton shortcut: skip clique if entity alone is cheaper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0156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Bound pruning: discard clique if upper bound ≥ best RC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85876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Result:  40–70% fewer Dinkelbach calls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Multi-Column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11556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Generate all negative-RC columns per CG iteration (not just best)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57276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Fewer LP re-solves per 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29967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Result:  fewer CG iterations on high-k instances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6060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6426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Summary of Manual Gains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44368"/>
            <a:ext cx="2788920" cy="438912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999232"/>
            <a:ext cx="26791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Technique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2944368"/>
            <a:ext cx="2788920" cy="438912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2999232"/>
            <a:ext cx="26791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383280"/>
            <a:ext cx="2788920" cy="438912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3429000"/>
            <a:ext cx="2679191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Vectorised 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3383280"/>
            <a:ext cx="2788920" cy="438912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3144" y="3429000"/>
            <a:ext cx="2679191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21.6× faster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822191"/>
            <a:ext cx="2788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3867911"/>
            <a:ext cx="2679191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Pruned auxiliary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3822191"/>
            <a:ext cx="2788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53144" y="3867911"/>
            <a:ext cx="2679191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40–70% fewer calls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261104"/>
            <a:ext cx="2788920" cy="438912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4306824"/>
            <a:ext cx="2679191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Multi-pricing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4261104"/>
            <a:ext cx="2788920" cy="438912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53144" y="4306824"/>
            <a:ext cx="2679191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Fewer LP re-solves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 3: Vectorised Multi-Step J-Means (Phase 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94360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Core Idea: Batch All m = n−k Candidates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Original: evaluate candidates sequentially  ⟹  O(m · n · k · s · L) per j-means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8132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Phase 8: all m candidates simultaneously as tensor  C ∈ ℝ^{m×k×s}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669280" cy="685800"/>
          </a:xfrm>
          <a:prstGeom prst="rect">
            <a:avLst/>
          </a:prstGeom>
          <a:solidFill>
            <a:srgbClr val="EBEBEB"/>
          </a:solidFill>
          <a:ln w="1143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299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</a:rPr>
              <a:t>Batched distance:   D[t,i,j] = ‖xᵢ‖² − 2xᵢCᵀₜⱼ + ‖Cₜⱼ‖²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97480"/>
            <a:ext cx="5669280" cy="621792"/>
          </a:xfrm>
          <a:prstGeom prst="rect">
            <a:avLst/>
          </a:prstGeom>
          <a:solidFill>
            <a:srgbClr val="EBEBEB"/>
          </a:solidFill>
          <a:ln w="1143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9806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</a:rPr>
              <a:t>Adaptive steps:   n_steps = 2  if  n/k ≥ 7,   else  n_steps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290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874"/>
                </a:solidFill>
              </a:rPr>
              <a:t>2D Fallback:  s=2 → revert to original j-means (Algorithm 1 dominates for 2D)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777240"/>
            <a:ext cx="5577840" cy="2606040"/>
          </a:xfrm>
          <a:prstGeom prst="rect">
            <a:avLst/>
          </a:prstGeom>
          <a:solidFill>
            <a:srgbClr val="D2E6FA"/>
          </a:solidFill>
          <a:ln w="1524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8503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Phase 8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1612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Build tensor C[t] = centroids with worst replaced by x_{T[t]}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4996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Run n_steps batched Lloyd iterations across all m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379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Compute cost estimate for all m candidates simultaneously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1762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Filter: evaluate only candidates with cost &lt; (1+δ)·UB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514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•  Run full j-means only on filtered survivors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547872"/>
            <a:ext cx="5577840" cy="1005840"/>
          </a:xfrm>
          <a:prstGeom prst="rect">
            <a:avLst/>
          </a:prstGeom>
          <a:solidFill>
            <a:srgbClr val="FFDCDC"/>
          </a:solidFill>
          <a:ln w="15240">
            <a:solidFill>
              <a:srgbClr val="B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6210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0000"/>
                </a:solidFill>
              </a:rPr>
              <a:t>LP Cycling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3192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Tighter initial UBs from Phase 8 eliminate indefinite LP cycling at Iris k=10.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Results 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3657600" cy="347472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" y="8229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777240"/>
            <a:ext cx="1828800" cy="347472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41063" y="822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777240"/>
            <a:ext cx="1828800" cy="347472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9864" y="822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Manual Opt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777240"/>
            <a:ext cx="2011680" cy="347472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98664" y="822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5480" y="777240"/>
            <a:ext cx="1828800" cy="347472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0344" y="822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124712"/>
            <a:ext cx="11155680" cy="24323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170432"/>
            <a:ext cx="10972800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03874"/>
                </a:solidFill>
              </a:rPr>
              <a:t>Iris  (n=150, s=4) — 10 seeds, 9 k-values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367942"/>
            <a:ext cx="36576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422806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Correct instances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367942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41063" y="142280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9/9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1367942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142280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9/9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1367942"/>
            <a:ext cx="2011680" cy="347472"/>
          </a:xfrm>
          <a:prstGeom prst="rect">
            <a:avLst/>
          </a:prstGeom>
          <a:solidFill>
            <a:srgbClr val="D2F0D2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98664" y="142280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90/90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1367942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0344" y="142280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+900% tests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1715414"/>
            <a:ext cx="36576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1770278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Mean speedup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1715414"/>
            <a:ext cx="1828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41063" y="177027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1.0×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1715414"/>
            <a:ext cx="1828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9864" y="177027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1.1×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1715414"/>
            <a:ext cx="2011680" cy="347472"/>
          </a:xfrm>
          <a:prstGeom prst="rect">
            <a:avLst/>
          </a:prstGeom>
          <a:solidFill>
            <a:srgbClr val="D2F0D2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98664" y="177027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1.58×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1715414"/>
            <a:ext cx="1828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10344" y="177027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+58%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062886"/>
            <a:ext cx="36576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" y="2117750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LP cycling (Iris k=10)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2062886"/>
            <a:ext cx="1828800" cy="347472"/>
          </a:xfrm>
          <a:prstGeom prst="rect">
            <a:avLst/>
          </a:prstGeom>
          <a:solidFill>
            <a:srgbClr val="FFDCDC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41063" y="211775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0000"/>
                </a:solidFill>
              </a:rPr>
              <a:t>Yes 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2062886"/>
            <a:ext cx="1828800" cy="347472"/>
          </a:xfrm>
          <a:prstGeom prst="rect">
            <a:avLst/>
          </a:prstGeom>
          <a:solidFill>
            <a:srgbClr val="FFDCDC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9864" y="211775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0000"/>
                </a:solidFill>
              </a:rPr>
              <a:t>Yes 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2062886"/>
            <a:ext cx="2011680" cy="347472"/>
          </a:xfrm>
          <a:prstGeom prst="rect">
            <a:avLst/>
          </a:prstGeom>
          <a:solidFill>
            <a:srgbClr val="D2F0D2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98664" y="211775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Fixed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5480" y="2062886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10344" y="211775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Resolved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2410358"/>
            <a:ext cx="11155680" cy="24323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" y="2456078"/>
            <a:ext cx="10972800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03874"/>
                </a:solidFill>
              </a:rPr>
              <a:t>Glass (n=214, s=9) — 10 seeds, k=30–50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2653588"/>
            <a:ext cx="36576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" y="2708452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Total j-means time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86200" y="2653588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41063" y="27084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9,999s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15000" y="2653588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9864" y="27084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6,800s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43800" y="2653588"/>
            <a:ext cx="2011680" cy="347472"/>
          </a:xfrm>
          <a:prstGeom prst="rect">
            <a:avLst/>
          </a:prstGeom>
          <a:solidFill>
            <a:srgbClr val="D2F0D2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98664" y="27084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5,561s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55480" y="2653588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10344" y="27084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−44%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3001060"/>
            <a:ext cx="36576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" y="3055924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Speedup vs baseline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86200" y="3001060"/>
            <a:ext cx="1828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41063" y="30559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1.0×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15000" y="3001060"/>
            <a:ext cx="1828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69864" y="30559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1.47×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3800" y="3001060"/>
            <a:ext cx="2011680" cy="347472"/>
          </a:xfrm>
          <a:prstGeom prst="rect">
            <a:avLst/>
          </a:prstGeom>
          <a:solidFill>
            <a:srgbClr val="D2F0D2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98664" y="30559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1.80× 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55480" y="3001060"/>
            <a:ext cx="1828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10344" y="30559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+80%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3348532"/>
            <a:ext cx="36576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1752" y="3403396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Glass k=30 cost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86200" y="3348532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41063" y="34033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63.3284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15000" y="3348532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9864" y="34033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63.3284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43800" y="3348532"/>
            <a:ext cx="2011680" cy="347472"/>
          </a:xfrm>
          <a:prstGeom prst="rect">
            <a:avLst/>
          </a:prstGeom>
          <a:solidFill>
            <a:srgbClr val="D2F0D2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98664" y="34033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63.2478 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55480" y="3348532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10344" y="34033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−0.13%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3696004"/>
            <a:ext cx="11155680" cy="24323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8328" y="3741724"/>
            <a:ext cx="10972800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03874"/>
                </a:solidFill>
              </a:rPr>
              <a:t>gr202 / gr666  (s=2, 2D fallback)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3939235"/>
            <a:ext cx="36576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1752" y="3994099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B&amp;B correctness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86200" y="3939235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41063" y="399409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100%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715000" y="3939235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69864" y="399409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100%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43800" y="3939235"/>
            <a:ext cx="2011680" cy="347472"/>
          </a:xfrm>
          <a:prstGeom prst="rect">
            <a:avLst/>
          </a:prstGeom>
          <a:solidFill>
            <a:srgbClr val="D2F0D2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598664" y="399409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100% 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55480" y="3939235"/>
            <a:ext cx="1828800" cy="347472"/>
          </a:xfrm>
          <a:prstGeom prst="rect">
            <a:avLst/>
          </a:prstGeom>
          <a:solidFill>
            <a:srgbClr val="EBEBEB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10344" y="399409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Maintained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4286707"/>
            <a:ext cx="36576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1752" y="4341571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Timing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886200" y="4286707"/>
            <a:ext cx="1828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41063" y="434157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1.0×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15000" y="4286707"/>
            <a:ext cx="1828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769864" y="434157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1.0×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43800" y="4286707"/>
            <a:ext cx="20116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598664" y="434157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1.0×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555480" y="4286707"/>
            <a:ext cx="1828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10344" y="434157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Identical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4320" y="629107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874"/>
                </a:solidFill>
              </a:rPr>
              <a:t>38 full B&amp;B instances correct   ·   90 multi-seed Iris trials correct   (100%)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Benchmark: Paper Values vs Our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Iris (Table 8) &amp; gr202 (Table 3)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41732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170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115568"/>
            <a:ext cx="141732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6504" y="1170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115568"/>
            <a:ext cx="141732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1170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115568"/>
            <a:ext cx="141732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170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17904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56362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Iris  k=2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1517904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46504" y="156362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152.3687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517904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63824" y="156362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152.3687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1517904"/>
            <a:ext cx="1417320" cy="402336"/>
          </a:xfrm>
          <a:prstGeom prst="rect">
            <a:avLst/>
          </a:prstGeom>
          <a:solidFill>
            <a:srgbClr val="D2F0D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156362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920240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1965960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Iris  k=5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1920240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46504" y="1965960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46.5356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1920240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63824" y="1965960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46.5356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1920240"/>
            <a:ext cx="1417320" cy="402336"/>
          </a:xfrm>
          <a:prstGeom prst="rect">
            <a:avLst/>
          </a:prstGeom>
          <a:solidFill>
            <a:srgbClr val="D2F0D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1965960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322576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2368296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Iris  k=10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91640" y="2322576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46504" y="2368296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25.8134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2322576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63824" y="2368296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25.8134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2322576"/>
            <a:ext cx="1417320" cy="402336"/>
          </a:xfrm>
          <a:prstGeom prst="rect">
            <a:avLst/>
          </a:prstGeom>
          <a:solidFill>
            <a:srgbClr val="D2F0D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81144" y="2368296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24912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277063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gr202 k=5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1640" y="2724912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46504" y="277063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8894.904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2724912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63824" y="277063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8894.904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6280" y="2724912"/>
            <a:ext cx="1417320" cy="402336"/>
          </a:xfrm>
          <a:prstGeom prst="rect">
            <a:avLst/>
          </a:prstGeom>
          <a:solidFill>
            <a:srgbClr val="D2F0D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81144" y="277063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127248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3172968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gr202 k=15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91640" y="3127248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46504" y="3172968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2320.080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3127248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63824" y="3172968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2320.080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26280" y="3127248"/>
            <a:ext cx="1417320" cy="402336"/>
          </a:xfrm>
          <a:prstGeom prst="rect">
            <a:avLst/>
          </a:prstGeom>
          <a:solidFill>
            <a:srgbClr val="D2F0D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81144" y="3172968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529584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357530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gr202 k=30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91640" y="3529584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46504" y="357530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799.311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8960" y="3529584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63824" y="357530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799.311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26280" y="3529584"/>
            <a:ext cx="1417320" cy="402336"/>
          </a:xfrm>
          <a:prstGeom prst="rect">
            <a:avLst/>
          </a:prstGeom>
          <a:solidFill>
            <a:srgbClr val="D2F0D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81144" y="357530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000"/>
                </a:solidFill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2764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Glass (Table 9) — Phase 8 Improvement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20" y="1115568"/>
            <a:ext cx="141732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72783" y="1170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35240" y="1115568"/>
            <a:ext cx="141732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90104" y="1170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Paper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52560" y="1115568"/>
            <a:ext cx="141732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07424" y="1170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469880" y="1115568"/>
            <a:ext cx="141732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24744" y="1170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Δ%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1517904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72783" y="156362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30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35240" y="1517904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90104" y="156362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63.3284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52560" y="1517904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07424" y="156362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63.2478 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469880" y="1517904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524744" y="156362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−0.13%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7920" y="1920240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72783" y="1965960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35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35240" y="1920240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90104" y="1965960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49.2386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52560" y="1920240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07424" y="1965960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49.2991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469880" y="1920240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24744" y="1965960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+0.12%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17920" y="2322576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72783" y="2368296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40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35240" y="2322576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90104" y="2368296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39.4983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52560" y="2322576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107424" y="2368296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39.5361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469880" y="2322576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524744" y="2368296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+0.10%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17920" y="2724912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72783" y="277063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45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35240" y="2724912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90104" y="277063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32.0395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52560" y="2724912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07424" y="277063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32.0538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469880" y="2724912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24744" y="277063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+0.04%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17920" y="3127248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72783" y="3172968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50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635240" y="3127248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90104" y="3172968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26.7675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052560" y="3127248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107424" y="3172968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26.7719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469880" y="3127248"/>
            <a:ext cx="141732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524744" y="3172968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+0.02%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17920" y="3273552"/>
            <a:ext cx="5669280" cy="1261872"/>
          </a:xfrm>
          <a:prstGeom prst="rect">
            <a:avLst/>
          </a:prstGeom>
          <a:solidFill>
            <a:srgbClr val="D2E6FA"/>
          </a:solidFill>
          <a:ln w="1524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55080" y="33467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Note — Glass k=30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55080" y="3657600"/>
            <a:ext cx="5394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Phase 8 finds 63.2478 in 10/10 seeds
vs original’s 63.3284 found in only 6/10 seeds.
Our solution is 0.127% better than the paper.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4663440"/>
            <a:ext cx="3566160" cy="713232"/>
          </a:xfrm>
          <a:prstGeom prst="rect">
            <a:avLst/>
          </a:prstGeom>
          <a:solidFill>
            <a:srgbClr val="D2F0D2"/>
          </a:solidFill>
          <a:ln w="1016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65760" y="47183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874"/>
                </a:solidFill>
              </a:rPr>
              <a:t>All Iris &amp; gr202 values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5760" y="50109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Match paper exactly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114800" y="4663440"/>
            <a:ext cx="3566160" cy="713232"/>
          </a:xfrm>
          <a:prstGeom prst="rect">
            <a:avLst/>
          </a:prstGeom>
          <a:solidFill>
            <a:srgbClr val="D2F0D2"/>
          </a:solidFill>
          <a:ln w="1016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206240" y="47183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874"/>
                </a:solidFill>
              </a:rPr>
              <a:t>Glass k=30 improvement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206240" y="50109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0.127% better than paper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955280" y="4663440"/>
            <a:ext cx="3566160" cy="713232"/>
          </a:xfrm>
          <a:prstGeom prst="rect">
            <a:avLst/>
          </a:prstGeom>
          <a:solidFill>
            <a:srgbClr val="D2F0D2"/>
          </a:solidFill>
          <a:ln w="1016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046720" y="47183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874"/>
                </a:solidFill>
              </a:rPr>
              <a:t>Total correct instances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46720" y="50109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38 / 38  (100%)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Results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85216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Glass J-Means: Phase 8 Speedup per 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852160" cy="416052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520184"/>
            <a:ext cx="658368" cy="435863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2757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874"/>
                </a:solidFill>
              </a:rPr>
              <a:t>0.52×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98347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k=30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87068" y="2047494"/>
            <a:ext cx="658368" cy="2908554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7068" y="175488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874"/>
                </a:solidFill>
              </a:rPr>
              <a:t>3.47×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7068" y="498347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k=35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1216" y="2659380"/>
            <a:ext cx="658368" cy="2296667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36677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874"/>
                </a:solidFill>
              </a:rPr>
              <a:t>2.74×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498347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k=40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5364" y="2734818"/>
            <a:ext cx="658368" cy="2221229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5364" y="244221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874"/>
                </a:solidFill>
              </a:rPr>
              <a:t>2.65×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5364" y="498347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k=45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9512" y="3162300"/>
            <a:ext cx="658368" cy="1793747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286969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874"/>
                </a:solidFill>
              </a:rPr>
              <a:t>2.14×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498347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k=50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7848"/>
            <a:ext cx="5486400" cy="36576"/>
          </a:xfrm>
          <a:prstGeom prst="rect">
            <a:avLst/>
          </a:prstGeom>
          <a:solidFill>
            <a:srgbClr val="B4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7271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48C00"/>
                </a:solidFill>
              </a:rPr>
              <a:t>— Baseline (1.0×)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777240"/>
            <a:ext cx="539496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81381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Overall 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115568"/>
            <a:ext cx="269748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3" y="1170432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115568"/>
            <a:ext cx="2697480" cy="402336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584" y="1170432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517904"/>
            <a:ext cx="269748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3" y="1563624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Iris speedup (mean)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1517904"/>
            <a:ext cx="269748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584" y="1563624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1.58×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1920240"/>
            <a:ext cx="2697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3" y="1965960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Glass speedup (total)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1920240"/>
            <a:ext cx="2697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44584" y="1965960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1.80×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322576"/>
            <a:ext cx="269748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47103" y="2368296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Glass time: baseline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2322576"/>
            <a:ext cx="269748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44584" y="2368296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9,999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2724912"/>
            <a:ext cx="2697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47103" y="2770632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Glass time: Phase 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2724912"/>
            <a:ext cx="2697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44584" y="2770632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5,561 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127248"/>
            <a:ext cx="269748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47103" y="3172968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Time saved (Glass)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9720" y="3127248"/>
            <a:ext cx="269748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44584" y="3172968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4,438 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3529584"/>
            <a:ext cx="2697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47103" y="3575304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B&amp;B correct (total)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89720" y="3529584"/>
            <a:ext cx="2697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44584" y="3575304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38 / 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3931920"/>
            <a:ext cx="269748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47103" y="3977639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Multi-seed Iris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89720" y="3931920"/>
            <a:ext cx="2697480" cy="402336"/>
          </a:xfrm>
          <a:prstGeom prst="rect">
            <a:avLst/>
          </a:prstGeom>
          <a:solidFill>
            <a:srgbClr val="EBEBEB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44584" y="3977639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90 / 90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4334256"/>
            <a:ext cx="2697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47103" y="4379976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</a:rPr>
              <a:t>Glass k=30 found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9720" y="4334256"/>
            <a:ext cx="2697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44584" y="4379976"/>
            <a:ext cx="2587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</a:rPr>
              <a:t>10/10 seeds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47365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874"/>
                </a:solidFill>
              </a:rPr>
              <a:t>Graph builder: 21.6× faster  |  Dinkelbach calls reduced: −40–70%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950976"/>
          </a:xfrm>
          <a:prstGeom prst="rect">
            <a:avLst/>
          </a:prstGeom>
          <a:solidFill>
            <a:srgbClr val="EBEBEB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41247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1.  1.80× speedup on Glass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9576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Batching all m candidates eliminates per-candidate Lloyd overhead. Dominant win on high-s instances.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19655"/>
            <a:ext cx="11612880" cy="950976"/>
          </a:xfrm>
          <a:prstGeom prst="rect">
            <a:avLst/>
          </a:prstGeom>
          <a:solidFill>
            <a:srgbClr val="EBEBEB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83663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2.  Adaptive n_steps is essential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21991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Fixed n_steps=1 misses better solutions at Glass k=30; fixed n_steps=2 is 2× slower for k=35–50. Threshold n/k=7 separates regimes correctly.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62072"/>
            <a:ext cx="11612880" cy="950976"/>
          </a:xfrm>
          <a:prstGeom prst="rect">
            <a:avLst/>
          </a:prstGeom>
          <a:solidFill>
            <a:srgbClr val="EBEBEB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26079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3.  2D fallback preserves correctness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6440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Without it, gr202/gr666 show timing regressions and potential UB degradation.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04487"/>
            <a:ext cx="11612880" cy="950976"/>
          </a:xfrm>
          <a:prstGeom prst="rect">
            <a:avLst/>
          </a:prstGeom>
          <a:solidFill>
            <a:srgbClr val="EBEBEB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6849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4.  Glass k=30: paper result is suboptimal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0682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Phase 8 finds 63.2478 in 10/10 seeds vs paper’s 63.3284 (found in 6/10). Our solution is 0.127% better.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46903"/>
            <a:ext cx="11612880" cy="950976"/>
          </a:xfrm>
          <a:prstGeom prst="rect">
            <a:avLst/>
          </a:prstGeom>
          <a:solidFill>
            <a:srgbClr val="EBEBEB"/>
          </a:solidFill>
          <a:ln w="889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1091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5.  LP cycling eliminated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Tighter UBs from Phase 8 prevent B&amp;B LP stalling at a degenerate vertex — Iris k=10 now solves reliably.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Computational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852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Node budget: default max_nodes=200; very hard instances may not certify optimality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91056"/>
            <a:ext cx="5852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Memory: tensor C∈ℝ^{m×k×s} requires O(mks) — chunk-based variant needed for large n, k,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66543"/>
            <a:ext cx="5852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Gurobi dependency: PuLP/CBC fallback is 2–5× slower; may not solve Glass within budget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Algorithmic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15568"/>
            <a:ext cx="55778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No 2D speedup: s=2 fallback is correct but gains zero from vectorisation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91056"/>
            <a:ext cx="55778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Glass k=35–50 UB regression: n_steps=1 finds slightly worse solutions (&lt;0.13%); tree is less pruned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66543"/>
            <a:ext cx="55778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Scale: tested up to n=666; n&gt;5000 requires stabilised RMP and different auxiliary approaches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Algorithmic Extensions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Extend vectorised screening to 2D (combine with Algorithm 1 disc enumeration)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Stabilised column generation (in-out blending) to speed up early LP iterations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29967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Warm-start B&amp;B children with parent’s basic columns  (lean B&amp;B)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8716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Parallel B&amp;B tree search on multi-core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Scale &amp;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11556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Test on n&gt;1000 instances  (Ruspini, Body dataset, gene expression)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Integrate with scikit-learn API for drop-in exact k-means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29967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Explore SDP relaxations for tighter root LP bounds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8716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Apply to weighted MSSC and kernel MSSC variants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46120"/>
            <a:ext cx="11612880" cy="1024128"/>
          </a:xfrm>
          <a:prstGeom prst="rect">
            <a:avLst/>
          </a:prstGeom>
          <a:solidFill>
            <a:srgbClr val="D2E6FA"/>
          </a:solidFill>
          <a:ln w="1524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319272"/>
            <a:ext cx="11338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Open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630168"/>
            <a:ext cx="1133855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</a:rPr>
              <a:t>Full implementation available at:
github.com/deep-suman/mssc-bnb-solver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91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CFF"/>
                </a:solidFill>
              </a:rPr>
              <a:t>§8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138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943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Complete Python implementation of Aloise et al. (2012) column-generation B&amp;B for exact MSSC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91056"/>
            <a:ext cx="5943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Dual Gurobi / PuLP solver support for flexibility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66543"/>
            <a:ext cx="5943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Vectorised multi-step j-means screening  (Phase 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5669280" cy="29260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7797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9067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1.80× speedup on Glass  (s=9, high-dimensional)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54787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1.58× mean speedup on Iris  (90/90 trials correct)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0507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Better solution: Glass k=30 = 63.2478 vs paper’s 63.3284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46227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▸  100% correctness: 38 B&amp;B instances, all benchmarks ≤ 0.001%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777240"/>
            <a:ext cx="5486400" cy="1920240"/>
          </a:xfrm>
          <a:prstGeom prst="rect">
            <a:avLst/>
          </a:prstGeom>
          <a:solidFill>
            <a:srgbClr val="FFDCDC"/>
          </a:solidFill>
          <a:ln w="15240">
            <a:solidFill>
              <a:srgbClr val="B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8503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0000"/>
                </a:solidFill>
              </a:rPr>
              <a:t>Impact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161288"/>
            <a:ext cx="52120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Phase 8 vectorised screening is a practical, zero-parameter-tuning speedup for exact MSSC on high-dimensional data — while also improving solution quality by reliably escaping local optima that limit sequential j-means.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880360"/>
            <a:ext cx="5486400" cy="1417320"/>
          </a:xfrm>
          <a:prstGeom prst="rect">
            <a:avLst/>
          </a:prstGeom>
          <a:solidFill>
            <a:srgbClr val="D2E6FA"/>
          </a:solidFill>
          <a:ln w="15240">
            <a:solidFill>
              <a:srgbClr val="003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9535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74"/>
                </a:solidFill>
              </a:rPr>
              <a:t>Reproducibility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264408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</a:rPr>
              <a:t>python validate_phase8.py iris
python validate_phase8.py glass
python validate_phase8.py 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1.  D. Aloise, P. Hansen, L. Liberti. “An improved column generation algorithm for minimum sum-of-squares clustering.” Mathematical Programming, 134(2):539–565, 2012.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99616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2.  D. Aloise, A. Deshpande, P. Hansen, P. Popat. “NP-hardness of Euclidean sum-of-squares clustering.” Machine Learning, 75(2):245–249, 2009.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3.  P. Hansen, N. Mladenović. “J-means: a new local search heuristic for minimum sum of squares clustering.” Pattern Recognition, 34(2):405–413, 2001.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89504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4.  W. Dinkelbach. “On nonlinear fractional programming.” Management Science, 13(7):492–498, 1967.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5.  O. Du Merle, P. Hansen, B. Jaumard, N. Mladenović. “An interior point algorithm for minimum sum-of-squares clustering.” SIAM J. Sci. Comput., 21(4):1485–505, 2000.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7939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6.  S. P. Lloyd. “Least squares quantization in PCM.” IEEE Trans. Inf. Theory, 28(2):129–137, 1982.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974336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7.  Gurobi Optimizer Reference Manual. Gurobi Optimization, LLC, 2024.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66928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</a:rPr>
              <a:t>8.  NumPy, SciPy, python-pptx — open source Python libraries.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23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48C00"/>
                </a:solidFill>
              </a:rP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3182112"/>
            <a:ext cx="7616952" cy="45720"/>
          </a:xfrm>
          <a:prstGeom prst="rect">
            <a:avLst/>
          </a:prstGeom>
          <a:solidFill>
            <a:srgbClr val="B4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429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B48C00"/>
                </a:solidFill>
              </a:rPr>
              <a:t>Team: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429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Godugu Deep Suman   ·   Devulapalli Tharun   ·   Md Nazib 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99592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B48C00"/>
                </a:solidFill>
              </a:rPr>
              <a:t>Dept: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99592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Computer Science &amp; Engineering, NITK Surathkal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5628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B48C00"/>
                </a:solidFill>
              </a:rPr>
              <a:t>Code: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56285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github.com/deep-suman/mssc-bnb-solver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6565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Godugu, Devulapalli, Md Nazib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5653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MSSC Exact Solver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65653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